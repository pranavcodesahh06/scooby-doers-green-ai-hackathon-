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131" dt="2026-10-10T15:59:19.2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E73707-9665-46EC-BB4B-3DD9199E577A}" type="datetimeFigureOut">
              <a:t>10/10/2026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5D3BB-935E-4655-A764-7E6E1859B89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97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state that AquaMind is a working digital prototype, not a deployed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NOAA Fisheries documents impacts to reefs and native fish. Do not claim that lionfish are a recurring verified problem within Padre Island National Seashore or Corpus Christi Bay.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live robot path to fish, the 3-meter approach and visible capture sphere, then a return to the support boat. Note transfer and recharge are simulated.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Grounded in AquaMind_V6.py. The implementation uses a headless Simulation class separate from Panda3D visual code, with deterministic seed 42 defaults.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Planner.plan() performs 2D A* over 8 neighbors with Euclidean heuristic and weighted 3D goal height. This is grid-based navigation, not full 3D physics.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current prototype cannot infer lionfish from actual pixels. The next step is building and evaluating a real labeled species-vision model and adding human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Current code uses estimated return energy = Euclidean distance x propulsion Wh/m x 1.7 + reserve 22 Wh. It does not show a validated savings percentage or actual hardware energy.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spherical neutralization effect and blood particles are just animations. The robotic killing mechanism is not a proven physical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operator view is made for accessibility, but a future simple Start/Stop console and human review would be needed for non-technical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careful: protected coastal and estuarine ecosystems do not automatically offer suitable lionfish habitat. These are proposed outreach/validation organizations, not partnerships or deployments. Padre is a National Park Service unit and would require permits and authorization.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claim direct real-world savings: they are a hypothesis. Suggest pilots evaluate Wh/capture, person-hours, costs and harm avoidance.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Before presenting, verify whether actual simulation shows successful capture and boat return. Never imply a recorded fallback is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team-workload question, use only your actual division of responsibilities. Avoid making up who did what. For portability question, say the framework could be adapted to other species/regions after retraining and local ecological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grounded, compelling claim: we built a demonstrator of autonomous energy-aware invasive fish management, not a proven real-world removal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are public references for conservation setting. Algorithm claims were inspected in AquaMind_V6.py. Partner possibilities are suggestions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only as backup for judge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cbbep.org/about-the-cbbep/" TargetMode="External"/><Relationship Id="rId3" Type="http://schemas.openxmlformats.org/officeDocument/2006/relationships/hyperlink" Target="https://www.fisheries.noaa.gov/southeast/ecosystems/impacts-invasive-lionfish" TargetMode="External"/><Relationship Id="rId7" Type="http://schemas.openxmlformats.org/officeDocument/2006/relationships/hyperlink" Target="https://www.coast.noaa.gov/nerrs/reserves/mission-aransas.html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texasstateaquarium.org/programs/conservation/" TargetMode="External"/><Relationship Id="rId5" Type="http://schemas.openxmlformats.org/officeDocument/2006/relationships/hyperlink" Target="https://www.nps.gov/pais/planyourvisit/fishing.htm" TargetMode="External"/><Relationship Id="rId4" Type="http://schemas.openxmlformats.org/officeDocument/2006/relationships/hyperlink" Target="https://www.nps.gov/im/guln/pais.htm" TargetMode="Externa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828800"/>
            <a:ext cx="7315200" cy="9144000"/>
          </a:xfrm>
          <a:prstGeom prst="ellipse">
            <a:avLst/>
          </a:prstGeom>
          <a:solidFill>
            <a:srgbClr val="0C597A">
              <a:alpha val="7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1280160"/>
            <a:ext cx="3200400" cy="3200400"/>
          </a:xfrm>
          <a:prstGeom prst="ellipse">
            <a:avLst/>
          </a:prstGeom>
          <a:solidFill>
            <a:srgbClr val="1D9BB0">
              <a:alpha val="27000"/>
            </a:srgbClr>
          </a:solidFill>
          <a:ln w="25400">
            <a:solidFill>
              <a:srgbClr val="43BAC8">
                <a:alpha val="6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04088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kern="0" spc="3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76656" y="160020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8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731520" y="2862072"/>
            <a:ext cx="8503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Smarter invasive-species control.</a:t>
            </a:r>
            <a:endParaRPr lang="en-US" sz="2900" dirty="0"/>
          </a:p>
          <a:p>
            <a:pPr marL="0" indent="0">
              <a:buNone/>
            </a:pPr>
            <a:r>
              <a:rPr lang="en-US" sz="2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wildlife. More efficient missions.</a:t>
            </a:r>
            <a:endParaRPr lang="en-US" sz="2900" dirty="0"/>
          </a:p>
        </p:txBody>
      </p:sp>
      <p:sp>
        <p:nvSpPr>
          <p:cNvPr id="7" name="Shape 5"/>
          <p:cNvSpPr/>
          <p:nvPr/>
        </p:nvSpPr>
        <p:spPr>
          <a:xfrm>
            <a:off x="713232" y="4919472"/>
            <a:ext cx="7863840" cy="576072"/>
          </a:xfrm>
          <a:prstGeom prst="roundRect">
            <a:avLst>
              <a:gd name="adj" fmla="val 2539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84064"/>
            <a:ext cx="7406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ROBOTICS  /  ENERGY-AWARE NAVIGATION  /  CONSERVATION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62179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hackathon prototype • Not a field-tested device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48E8D5"/>
                </a:solidFill>
                <a:latin typeface="Aptos"/>
              </a:rPr>
              <a:t>ISLANDERHACK 2026   /   AQUAMIND   /   SCOOBY 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EBF7F9"/>
                </a:solidFill>
                <a:latin typeface="Aptos"/>
              </a:rPr>
              <a:t>Meet the Scooby Doers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9AC0CA"/>
                </a:solidFill>
                <a:latin typeface="Aptos"/>
              </a:rPr>
              <a:t>One team. One 24-hour build. Different strengths working toward the same 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9AC0CA"/>
                </a:solidFill>
                <a:latin typeface="Aptos"/>
              </a:rPr>
              <a:t>GULF COAST–INSPIRED PROOF OF CONCEPT  •  NOT A FIELD-DEPLOYED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95728"/>
            <a:ext cx="10698480" cy="209288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spcAft>
                <a:spcPts val="1000"/>
              </a:spcAft>
            </a:pPr>
            <a:r>
              <a:rPr sz="2100" b="0" dirty="0">
                <a:solidFill>
                  <a:srgbClr val="EBF7F9"/>
                </a:solidFill>
                <a:latin typeface="Aptos"/>
              </a:rPr>
              <a:t>PRANAV VIVEKANANDAN  —  Team Lead • AI </a:t>
            </a:r>
            <a:r>
              <a:rPr lang="en-US" sz="2100" dirty="0">
                <a:solidFill>
                  <a:srgbClr val="EBF7F9"/>
                </a:solidFill>
                <a:latin typeface="Aptos"/>
              </a:rPr>
              <a:t>Programmer </a:t>
            </a:r>
            <a:r>
              <a:rPr sz="2100" b="0">
                <a:solidFill>
                  <a:srgbClr val="EBF7F9"/>
                </a:solidFill>
                <a:latin typeface="Aptos"/>
              </a:rPr>
              <a:t>/ Computer Vision Concepts</a:t>
            </a:r>
            <a:r>
              <a:rPr lang="en-US" sz="2100">
                <a:solidFill>
                  <a:srgbClr val="EBF7F9"/>
                </a:solidFill>
                <a:latin typeface="Aptos"/>
              </a:rPr>
              <a:t> / AI Integration / Web Scraping</a:t>
            </a:r>
            <a:endParaRPr sz="21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EBF7F9"/>
                </a:solidFill>
                <a:latin typeface="Aptos"/>
              </a:rPr>
              <a:t>JOSHUA </a:t>
            </a:r>
            <a:r>
              <a:rPr lang="en-US" sz="2100">
                <a:solidFill>
                  <a:srgbClr val="EBF7F9"/>
                </a:solidFill>
                <a:latin typeface="Aptos"/>
              </a:rPr>
              <a:t>BOCKERSTETTE </a:t>
            </a:r>
            <a:r>
              <a:rPr sz="2100" b="0">
                <a:solidFill>
                  <a:srgbClr val="EBF7F9"/>
                </a:solidFill>
                <a:latin typeface="Aptos"/>
              </a:rPr>
              <a:t> —  Development • CAD / Robot Design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EBF7F9"/>
                </a:solidFill>
                <a:latin typeface="Aptos"/>
              </a:rPr>
              <a:t>OLIVIA </a:t>
            </a:r>
            <a:r>
              <a:rPr lang="en-US" sz="2100">
                <a:solidFill>
                  <a:srgbClr val="EBF7F9"/>
                </a:solidFill>
                <a:latin typeface="Aptos"/>
              </a:rPr>
              <a:t>DE LEON</a:t>
            </a:r>
            <a:r>
              <a:rPr sz="2100" b="0">
                <a:solidFill>
                  <a:srgbClr val="EBF7F9"/>
                </a:solidFill>
                <a:latin typeface="Aptos"/>
              </a:rPr>
              <a:t> —  Locomotion • Robot Movement</a:t>
            </a:r>
          </a:p>
          <a:p>
            <a:pPr>
              <a:spcAft>
                <a:spcPts val="1000"/>
              </a:spcAft>
            </a:pPr>
            <a:r>
              <a:rPr sz="2100" b="0">
                <a:solidFill>
                  <a:srgbClr val="EBF7F9"/>
                </a:solidFill>
                <a:latin typeface="Aptos"/>
              </a:rPr>
              <a:t>LEO </a:t>
            </a:r>
            <a:r>
              <a:rPr lang="en-US" sz="2100">
                <a:solidFill>
                  <a:srgbClr val="EBF7F9"/>
                </a:solidFill>
                <a:latin typeface="Aptos"/>
              </a:rPr>
              <a:t>MIRELES</a:t>
            </a:r>
            <a:r>
              <a:rPr sz="2100" b="0">
                <a:solidFill>
                  <a:srgbClr val="EBF7F9"/>
                </a:solidFill>
                <a:latin typeface="Aptos"/>
              </a:rPr>
              <a:t> —  Coastal Research • Padre Island / National Seashore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problem | invasives threaten biodiversity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64592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INVASIVE LIONFISH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26720" y="227076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r>
              <a:rPr lang="en-US" sz="2300" dirty="0">
                <a:solidFill>
                  <a:srgbClr val="F3FBFD"/>
                </a:solidFill>
                <a:latin typeface="Aptos"/>
                <a:ea typeface="Aptos" pitchFamily="34" charset="-122"/>
                <a:cs typeface="Aptos" pitchFamily="34" charset="-120"/>
              </a:rPr>
              <a:t>An established conservation challenge across the western Atlantic, Caribbean, Gulf </a:t>
            </a:r>
            <a:r>
              <a:rPr lang="en-US" sz="2300">
                <a:solidFill>
                  <a:srgbClr val="F3FBFD"/>
                </a:solidFill>
                <a:latin typeface="Aptos"/>
                <a:ea typeface="Aptos" pitchFamily="34" charset="-122"/>
                <a:cs typeface="Aptos" pitchFamily="34" charset="-120"/>
              </a:rPr>
              <a:t>of Mexico, and mainly Corpus Christi, Texas.</a:t>
            </a:r>
            <a:endParaRPr lang="en-US" sz="2300">
              <a:latin typeface="Apto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17920" y="1719072"/>
            <a:ext cx="5303520" cy="1234440"/>
          </a:xfrm>
          <a:prstGeom prst="roundRect">
            <a:avLst>
              <a:gd name="adj" fmla="val 1185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0" y="1719072"/>
            <a:ext cx="54864" cy="1234440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19088" y="18653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Ecology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419088" y="2286000"/>
            <a:ext cx="4892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Lionfish consume native reef fish and compete with local predators.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217920" y="3090672"/>
            <a:ext cx="5303520" cy="1234440"/>
          </a:xfrm>
          <a:prstGeom prst="roundRect">
            <a:avLst>
              <a:gd name="adj" fmla="val 1185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090672"/>
            <a:ext cx="54864" cy="1234440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9088" y="32369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419088" y="3657600"/>
            <a:ext cx="489204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marine ecosystems support commercial and recreational fishing.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217920" y="4471416"/>
            <a:ext cx="5303520" cy="1216152"/>
          </a:xfrm>
          <a:prstGeom prst="roundRect">
            <a:avLst>
              <a:gd name="adj" fmla="val 12030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4471416"/>
            <a:ext cx="54864" cy="1216152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9088" y="461772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response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419088" y="5038344"/>
            <a:ext cx="489204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Targeted removal usually requires trained human effort.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649224" y="5724144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CARE: Gulf-wide relevance ≠ proof of a documented lionfish outbreak at Padre Island.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Our solution | the robot + the crew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76656" y="1636776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AUTONOMOUS MISSION LOOP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76072" y="221284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70662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3456432" y="221284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1188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11880" y="270662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SCAN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6336792" y="221284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70662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CLASSIFY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9217152" y="221284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E5264"/>
          </a:solidFill>
          <a:ln w="12700">
            <a:solidFill>
              <a:srgbClr val="0E526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72600" y="23317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372600" y="270662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APPROACH</a:t>
            </a:r>
            <a:endParaRPr lang="en-US" sz="2100" dirty="0"/>
          </a:p>
        </p:txBody>
      </p:sp>
      <p:sp>
        <p:nvSpPr>
          <p:cNvPr id="23" name="Shape 21"/>
          <p:cNvSpPr/>
          <p:nvPr/>
        </p:nvSpPr>
        <p:spPr>
          <a:xfrm>
            <a:off x="576072" y="363016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31520" y="412394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3456432" y="363016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1188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611880" y="412394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</a:t>
            </a:r>
            <a:endParaRPr lang="en-US" sz="2100" dirty="0"/>
          </a:p>
        </p:txBody>
      </p:sp>
      <p:sp>
        <p:nvSpPr>
          <p:cNvPr id="29" name="Shape 27"/>
          <p:cNvSpPr/>
          <p:nvPr/>
        </p:nvSpPr>
        <p:spPr>
          <a:xfrm>
            <a:off x="6336792" y="363016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92240" y="412394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</a:t>
            </a:r>
            <a:endParaRPr lang="en-US" sz="2100" dirty="0"/>
          </a:p>
        </p:txBody>
      </p:sp>
      <p:sp>
        <p:nvSpPr>
          <p:cNvPr id="32" name="Shape 30"/>
          <p:cNvSpPr/>
          <p:nvPr/>
        </p:nvSpPr>
        <p:spPr>
          <a:xfrm>
            <a:off x="9217152" y="3630168"/>
            <a:ext cx="2606040" cy="1069848"/>
          </a:xfrm>
          <a:prstGeom prst="roundRect">
            <a:avLst>
              <a:gd name="adj" fmla="val 13675"/>
            </a:avLst>
          </a:prstGeom>
          <a:solidFill>
            <a:srgbClr val="0E5264"/>
          </a:solidFill>
          <a:ln w="12700">
            <a:solidFill>
              <a:srgbClr val="0E5264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372600" y="374904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372600" y="4123944"/>
            <a:ext cx="231343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RECHARGE</a:t>
            </a:r>
            <a:endParaRPr lang="en-US" sz="2100" dirty="0"/>
          </a:p>
        </p:txBody>
      </p:sp>
      <p:sp>
        <p:nvSpPr>
          <p:cNvPr id="35" name="Text 33"/>
          <p:cNvSpPr/>
          <p:nvPr/>
        </p:nvSpPr>
        <p:spPr>
          <a:xfrm>
            <a:off x="731520" y="5285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 limit: 8 simulated lionfish per trip  •  Return to surface support boat  •  Automatically redeploy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architecture | what actually runs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1645920"/>
            <a:ext cx="5358384" cy="1856232"/>
          </a:xfrm>
          <a:prstGeom prst="roundRect">
            <a:avLst>
              <a:gd name="adj" fmla="val 788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645920"/>
            <a:ext cx="54864" cy="1856232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79222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+ Panda3D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221284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Real-time 3D environment, procedural models, lights, camera views and animated effects.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72200" y="1645920"/>
            <a:ext cx="5367528" cy="1856232"/>
          </a:xfrm>
          <a:prstGeom prst="roundRect">
            <a:avLst>
              <a:gd name="adj" fmla="val 788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645920"/>
            <a:ext cx="54864" cy="1856232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73368" y="1792224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Simulation state machine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73368" y="2212848"/>
            <a:ext cx="49560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Deploying → searching → verifying → approaching → capturing → returning → docking → recharging.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21792" y="3703320"/>
            <a:ext cx="5358384" cy="1856232"/>
          </a:xfrm>
          <a:prstGeom prst="roundRect">
            <a:avLst>
              <a:gd name="adj" fmla="val 788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703320"/>
            <a:ext cx="54864" cy="1856232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384962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+ world model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2960" y="4270248"/>
            <a:ext cx="4946904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Positions (x, y, z), velocities, fish behavior, reef obstacles and native-fish exclusions.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6172200" y="3703320"/>
            <a:ext cx="5367528" cy="1856232"/>
          </a:xfrm>
          <a:prstGeom prst="roundRect">
            <a:avLst>
              <a:gd name="adj" fmla="val 788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3703320"/>
            <a:ext cx="54864" cy="1856232"/>
          </a:xfrm>
          <a:prstGeom prst="rect">
            <a:avLst/>
          </a:prstGeom>
          <a:solidFill>
            <a:srgbClr val="87EF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3368" y="3849624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HUD / telemetrics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73368" y="4270248"/>
            <a:ext cx="4956048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Depth, target range, payload 0–8, battery, modeled energy, mission events and cameras.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1 | A* navigation around reefs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664208"/>
            <a:ext cx="6766560" cy="4160520"/>
          </a:xfrm>
          <a:prstGeom prst="roundRect">
            <a:avLst>
              <a:gd name="adj" fmla="val 3516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039112"/>
            <a:ext cx="566928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f(n) = g(n) + h(n)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042416" y="3026664"/>
            <a:ext cx="5943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g(n)  actual path cost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42416" y="3575304"/>
            <a:ext cx="5943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h(n)  straight-line distance to goal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42416" y="4187952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8-direction, 4 m grid • no corner-cutting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635240" y="1664208"/>
            <a:ext cx="3913632" cy="1947672"/>
          </a:xfrm>
          <a:prstGeom prst="roundRect">
            <a:avLst>
              <a:gd name="adj" fmla="val 751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35240" y="1664208"/>
            <a:ext cx="54864" cy="1947672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836408" y="181051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Obstacle handling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836408" y="2231136"/>
            <a:ext cx="3502152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Grid cells near reefs are blocked, with added clearance.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7635240" y="3813048"/>
            <a:ext cx="3913632" cy="2011680"/>
          </a:xfrm>
          <a:prstGeom prst="roundRect">
            <a:avLst>
              <a:gd name="adj" fmla="val 7273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35240" y="3813048"/>
            <a:ext cx="54864" cy="2011680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36408" y="3959352"/>
            <a:ext cx="35478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re-planning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7836408" y="4379976"/>
            <a:ext cx="3502152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Moving native fish create temporary avoidance zones; paths are recomputed.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2 | classify, verify, protect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03504" y="1664208"/>
            <a:ext cx="3529584" cy="3611880"/>
          </a:xfrm>
          <a:prstGeom prst="roundRect">
            <a:avLst>
              <a:gd name="adj" fmla="val 414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" y="1664208"/>
            <a:ext cx="54864" cy="3611880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18105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SCAN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04672" y="2231136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Nearby fish within the 33 m simulated sensor radius become candidates.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view displays the scene; it does not run a trained vision model.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15968" y="1664208"/>
            <a:ext cx="3529584" cy="3611880"/>
          </a:xfrm>
          <a:prstGeom prst="roundRect">
            <a:avLst>
              <a:gd name="adj" fmla="val 414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5968" y="1664208"/>
            <a:ext cx="54864" cy="3611880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17136" y="18105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FILTER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17136" y="2231136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Fish carry simulated species labels.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Native wildlife is rejected. Unsafe proximity to wildlife/reefs blocks capture.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037576" y="1664208"/>
            <a:ext cx="3529584" cy="3611880"/>
          </a:xfrm>
          <a:prstGeom prst="roundRect">
            <a:avLst>
              <a:gd name="adj" fmla="val 4145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37576" y="1664208"/>
            <a:ext cx="54864" cy="3611880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38744" y="1810512"/>
            <a:ext cx="3163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VERIFY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238744" y="2231136"/>
            <a:ext cx="3118104" cy="2935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active lionfish that pass clearance, capacity and energy checks can be targeted.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capture requires ≤ 3 m.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67512" y="5632704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Rule-based simulated recognition — NOT measured ML accuracy.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Algorithm 3 | energy-aware target choice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691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CHASING A FISH, CHECK: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40080" y="2258568"/>
            <a:ext cx="10927080" cy="1234440"/>
          </a:xfrm>
          <a:prstGeom prst="roundRect">
            <a:avLst>
              <a:gd name="adj" fmla="val 11852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51176"/>
            <a:ext cx="10241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Estimated approach + capture + return + safety reserve  &lt;  battery available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76656" y="3712464"/>
            <a:ext cx="3447288" cy="1719072"/>
          </a:xfrm>
          <a:prstGeom prst="roundRect">
            <a:avLst>
              <a:gd name="adj" fmla="val 851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6656" y="3712464"/>
            <a:ext cx="54864" cy="1719072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385876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Propulsion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77824" y="4279392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Modeled from travel distance and speed.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334256" y="3712464"/>
            <a:ext cx="3447288" cy="1719072"/>
          </a:xfrm>
          <a:prstGeom prst="roundRect">
            <a:avLst>
              <a:gd name="adj" fmla="val 851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34256" y="3712464"/>
            <a:ext cx="54864" cy="1719072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35424" y="385876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535424" y="4279392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Constant modeled sensor power over time.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982712" y="3712464"/>
            <a:ext cx="3447288" cy="1719072"/>
          </a:xfrm>
          <a:prstGeom prst="roundRect">
            <a:avLst>
              <a:gd name="adj" fmla="val 851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82712" y="3712464"/>
            <a:ext cx="54864" cy="1719072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183880" y="3858768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183880" y="4279392"/>
            <a:ext cx="303580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energy charge per simulated capture.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740664" y="57058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Wh used / successful capture; compare strategies with identical initial conditions.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mechanism | visualized, not engineered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21792" y="1828800"/>
            <a:ext cx="2670048" cy="3529584"/>
          </a:xfrm>
          <a:prstGeom prst="roundRect">
            <a:avLst>
              <a:gd name="adj" fmla="val 547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" y="1828800"/>
            <a:ext cx="54864" cy="3529584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197510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RANGE LOCK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22960" y="2395728"/>
            <a:ext cx="2258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 fast; slow near the 3 m approach point.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3502152" y="1828800"/>
            <a:ext cx="2670048" cy="3529584"/>
          </a:xfrm>
          <a:prstGeom prst="roundRect">
            <a:avLst>
              <a:gd name="adj" fmla="val 547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2152" y="1828800"/>
            <a:ext cx="54864" cy="3529584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03320" y="197510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EXTEND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03320" y="2395728"/>
            <a:ext cx="2258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Telescoping arm drives the sphere toward the target.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6382512" y="1828800"/>
            <a:ext cx="2670048" cy="3529584"/>
          </a:xfrm>
          <a:prstGeom prst="roundRect">
            <a:avLst>
              <a:gd name="adj" fmla="val 547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82512" y="1828800"/>
            <a:ext cx="54864" cy="3529584"/>
          </a:xfrm>
          <a:prstGeom prst="rect">
            <a:avLst/>
          </a:prstGeom>
          <a:solidFill>
            <a:srgbClr val="E45D65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0" y="197510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E45D6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NEUTRALIZE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2395728"/>
            <a:ext cx="2258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effect indicates a simulated removal.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9262872" y="1828800"/>
            <a:ext cx="2670048" cy="3529584"/>
          </a:xfrm>
          <a:prstGeom prst="roundRect">
            <a:avLst>
              <a:gd name="adj" fmla="val 547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1828800"/>
            <a:ext cx="54864" cy="3529584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464040" y="1975104"/>
            <a:ext cx="2304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RETRIEVE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464040" y="2395728"/>
            <a:ext cx="225856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Retract; count the fish in an 8-slot payload.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85800" y="5751576"/>
            <a:ext cx="1078992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interpretation: robot geometry approximates uploaded FreeCAD concept; no validated force, lethality or storage sizing.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 fisher or researcher actually sees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58368" y="1773936"/>
            <a:ext cx="5230368" cy="3547872"/>
          </a:xfrm>
          <a:prstGeom prst="roundRect">
            <a:avLst>
              <a:gd name="adj" fmla="val 4124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773936"/>
            <a:ext cx="54864" cy="3547872"/>
          </a:xfrm>
          <a:prstGeom prst="rect">
            <a:avLst/>
          </a:prstGeom>
          <a:solidFill>
            <a:srgbClr val="87EF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0240"/>
            <a:ext cx="4864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 POV + instruments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59536" y="2340864"/>
            <a:ext cx="481888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Forward-looking camera • depth meter • compass heading • altitude above seabed • speed • target lock • battery • capacity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Switch cameras with keys 1–5; key 5 opens robot POV.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108192" y="1773936"/>
            <a:ext cx="5367528" cy="3547872"/>
          </a:xfrm>
          <a:prstGeom prst="roundRect">
            <a:avLst>
              <a:gd name="adj" fmla="val 4124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08192" y="1773936"/>
            <a:ext cx="54864" cy="3547872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09360" y="1920240"/>
            <a:ext cx="5001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 decisions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09360" y="2340864"/>
            <a:ext cx="4956048" cy="2871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energy and payload.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 if a target is excluded.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Understand when the robot returns.</a:t>
            </a:r>
            <a:endParaRPr lang="en-US" sz="1900" dirty="0"/>
          </a:p>
          <a:p>
            <a:pPr marL="0" indent="0">
              <a:buNone/>
            </a:pPr>
            <a:r>
              <a:rPr lang="en-US" sz="19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mission logs to review a simulated deployment.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76656" y="5641848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usability: keyboard controls and on-screen telemetry; no production tablet or boat integration yet.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AquaMind fits the Coastal Bend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" y="1627632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627632"/>
            <a:ext cx="54864" cy="1335024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773936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Padre Island National Seashore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" y="219456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permitting, monitoring and coastal-habitat education discussions — not a partner.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181344" y="1627632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627632"/>
            <a:ext cx="54864" cy="1335024"/>
          </a:xfrm>
          <a:prstGeom prst="rect">
            <a:avLst/>
          </a:prstGeom>
          <a:solidFill>
            <a:srgbClr val="87EF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773936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Texas State Aquarium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382512" y="2194560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conservation outreach, species education and validation advice — not a partner.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2648" y="3200400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" y="3200400"/>
            <a:ext cx="54864" cy="1335024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3467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Mission–Aransas NERR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3816" y="3767328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estuary monitoring and science-education use cases — not a partner.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181344" y="3200400"/>
            <a:ext cx="5321808" cy="1335024"/>
          </a:xfrm>
          <a:prstGeom prst="roundRect">
            <a:avLst>
              <a:gd name="adj" fmla="val 10959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200400"/>
            <a:ext cx="54864" cy="1335024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346704"/>
            <a:ext cx="4956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Coastal Bend Bays &amp; Estuaries Program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82512" y="3767328"/>
            <a:ext cx="4910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environmental stewardship and community outreach collaboration — not a partner.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58368" y="4864608"/>
            <a:ext cx="10835640" cy="804672"/>
          </a:xfrm>
          <a:prstGeom prst="roundRect">
            <a:avLst>
              <a:gd name="adj" fmla="val 18182"/>
            </a:avLst>
          </a:prstGeom>
          <a:solidFill>
            <a:srgbClr val="143B50"/>
          </a:solidFill>
          <a:ln w="12700">
            <a:solidFill>
              <a:srgbClr val="143B50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05256" y="51206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Pilot must begin with species-presence surveys, approved sites, wildlife protections and permits.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Sustainable impact | how we would measure it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691640"/>
            <a:ext cx="3447288" cy="3456432"/>
          </a:xfrm>
          <a:prstGeom prst="roundRect">
            <a:avLst>
              <a:gd name="adj" fmla="val 4244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691640"/>
            <a:ext cx="54864" cy="3456432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183794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Resources tracked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41248" y="2258568"/>
            <a:ext cx="303580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Distance traveled (m)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Modeled energy (Wh)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Captures per trip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Return / recharge cycles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379976" y="1691640"/>
            <a:ext cx="3447288" cy="3456432"/>
          </a:xfrm>
          <a:prstGeom prst="roundRect">
            <a:avLst>
              <a:gd name="adj" fmla="val 4244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79976" y="1691640"/>
            <a:ext cx="54864" cy="3456432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1144" y="183794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Comparative test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81144" y="2258568"/>
            <a:ext cx="303580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 shortest-target baseline and energy-aware controller using identical fish positions, obstacles and seeds.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8119872" y="1691640"/>
            <a:ext cx="3447288" cy="3456432"/>
          </a:xfrm>
          <a:prstGeom prst="roundRect">
            <a:avLst>
              <a:gd name="adj" fmla="val 4244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1691640"/>
            <a:ext cx="54864" cy="3456432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1837944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value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321040" y="2258568"/>
            <a:ext cx="3035808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wasted searching, better boat planning, reduced hands-on hours and a scalable research workflow.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85800" y="5586984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dollar savings, power savings or fishing-income improvements have been experimentally established.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plan | show the judges the actual build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94944" y="1709928"/>
            <a:ext cx="10762488" cy="640080"/>
          </a:xfrm>
          <a:prstGeom prst="roundRect">
            <a:avLst>
              <a:gd name="adj" fmla="val 22857"/>
            </a:avLst>
          </a:prstGeom>
          <a:solidFill>
            <a:srgbClr val="123E54"/>
          </a:solidFill>
          <a:ln w="12700">
            <a:solidFill>
              <a:srgbClr val="123E54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1819656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0:00–0:25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734056" y="180136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+ local relevance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4944" y="2514600"/>
            <a:ext cx="10762488" cy="640080"/>
          </a:xfrm>
          <a:prstGeom prst="roundRect">
            <a:avLst>
              <a:gd name="adj" fmla="val 2285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32688" y="2624328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0:25–1:10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2734056" y="2606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program: fish, reefs, robot and boat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94944" y="3319272"/>
            <a:ext cx="10762488" cy="640080"/>
          </a:xfrm>
          <a:prstGeom prst="roundRect">
            <a:avLst>
              <a:gd name="adj" fmla="val 22857"/>
            </a:avLst>
          </a:prstGeom>
          <a:solidFill>
            <a:srgbClr val="123E54"/>
          </a:solidFill>
          <a:ln w="12700">
            <a:solidFill>
              <a:srgbClr val="123E54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2688" y="3429000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1:10–1:55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2734056" y="34107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Press 5: POV, depth, scanning + classifier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694944" y="4123944"/>
            <a:ext cx="10762488" cy="640080"/>
          </a:xfrm>
          <a:prstGeom prst="roundRect">
            <a:avLst>
              <a:gd name="adj" fmla="val 2285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2688" y="4233672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1:55–2:35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2734056" y="4215384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approach, capture and payload count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94944" y="4928616"/>
            <a:ext cx="10762488" cy="640080"/>
          </a:xfrm>
          <a:prstGeom prst="roundRect">
            <a:avLst>
              <a:gd name="adj" fmla="val 22857"/>
            </a:avLst>
          </a:prstGeom>
          <a:solidFill>
            <a:srgbClr val="123E54"/>
          </a:solidFill>
          <a:ln w="12700">
            <a:solidFill>
              <a:srgbClr val="123E5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5038344"/>
            <a:ext cx="1691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2:35–3:00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2734056" y="502005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A* + energy rule; return/recharge cycle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94944" y="5934456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if the live app fails: use screenshots or a recorded local walkthrough, clearly labeled.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Judges Q&amp;A | credibility wins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" y="1645920"/>
            <a:ext cx="5385816" cy="1938528"/>
          </a:xfrm>
          <a:prstGeom prst="roundRect">
            <a:avLst>
              <a:gd name="adj" fmla="val 754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12648" y="1645920"/>
            <a:ext cx="54864" cy="1938528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1792224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the AI?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" y="2212848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Autonomous search, A*, constraint-based target filtering and energy-aware planning; not a trained visual AI model.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08776" y="1645920"/>
            <a:ext cx="5385816" cy="1938528"/>
          </a:xfrm>
          <a:prstGeom prst="roundRect">
            <a:avLst>
              <a:gd name="adj" fmla="val 754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08776" y="1645920"/>
            <a:ext cx="54864" cy="1938528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9944" y="1792224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better than existing removal?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409944" y="2212848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prototype explores repeatable, assisted scouting; superiority and savings require field validation.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2648" y="3803904"/>
            <a:ext cx="5385816" cy="1938528"/>
          </a:xfrm>
          <a:prstGeom prst="roundRect">
            <a:avLst>
              <a:gd name="adj" fmla="val 754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" y="3803904"/>
            <a:ext cx="54864" cy="1938528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816" y="3950208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Hardest non-coding challenge?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13816" y="4370832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Coordinating plausible robot mechanics, ecological safety and a working demo in 24 hours.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08776" y="3803904"/>
            <a:ext cx="5385816" cy="1938528"/>
          </a:xfrm>
          <a:prstGeom prst="roundRect">
            <a:avLst>
              <a:gd name="adj" fmla="val 7547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3803904"/>
            <a:ext cx="54864" cy="1938528"/>
          </a:xfrm>
          <a:prstGeom prst="rect">
            <a:avLst/>
          </a:prstGeom>
          <a:solidFill>
            <a:srgbClr val="87EFF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9944" y="3950208"/>
            <a:ext cx="50200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next?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9944" y="4370832"/>
            <a:ext cx="4974336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species-image dataset, camera evaluation, prototype enclosure, field permits, safe-handling tests.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ask | a responsible path to deployment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1709928"/>
            <a:ext cx="1088136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SIMULATION TO RESEARCH PILOT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685800" y="2377440"/>
            <a:ext cx="3419856" cy="2240280"/>
          </a:xfrm>
          <a:prstGeom prst="roundRect">
            <a:avLst>
              <a:gd name="adj" fmla="val 653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2377440"/>
            <a:ext cx="54864" cy="2240280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52374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Validate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86968" y="2944368"/>
            <a:ext cx="30083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local lionfish occurrence and relevant habitat with experts.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407408" y="2377440"/>
            <a:ext cx="3419856" cy="2240280"/>
          </a:xfrm>
          <a:prstGeom prst="roundRect">
            <a:avLst>
              <a:gd name="adj" fmla="val 653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07408" y="2377440"/>
            <a:ext cx="54864" cy="2240280"/>
          </a:xfrm>
          <a:prstGeom prst="rect">
            <a:avLst/>
          </a:prstGeom>
          <a:solidFill>
            <a:srgbClr val="65D5AD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08576" y="252374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65D5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 Engineer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608576" y="2944368"/>
            <a:ext cx="30083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Prototype capture mechanics, native-fish safeguards and real sensors.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29016" y="2377440"/>
            <a:ext cx="3419856" cy="2240280"/>
          </a:xfrm>
          <a:prstGeom prst="roundRect">
            <a:avLst>
              <a:gd name="adj" fmla="val 6531"/>
            </a:avLst>
          </a:prstGeom>
          <a:solidFill>
            <a:srgbClr val="082D46"/>
          </a:solidFill>
          <a:ln w="12700">
            <a:solidFill>
              <a:srgbClr val="082D46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29016" y="2377440"/>
            <a:ext cx="54864" cy="2240280"/>
          </a:xfrm>
          <a:prstGeom prst="rect">
            <a:avLst/>
          </a:prstGeom>
          <a:solidFill>
            <a:srgbClr val="FFBD7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330184" y="2523744"/>
            <a:ext cx="3054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B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 Test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330184" y="2944368"/>
            <a:ext cx="3008376" cy="1563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real energy, identification accuracy, safety and cost.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" y="5221224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makes conservation robotics easier to explore — with safety and evidence built into the next steps.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+ useful references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13232" y="150876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NOAA Fisheries — Impacts of Invasive Lionfish</a:t>
            </a:r>
            <a:endParaRPr lang="en-US" sz="1700" dirty="0"/>
          </a:p>
        </p:txBody>
      </p:sp>
      <p:sp>
        <p:nvSpPr>
          <p:cNvPr id="11" name="Text 9">
            <a:hlinkClick r:id="rId3"/>
          </p:cNvPr>
          <p:cNvSpPr/>
          <p:nvPr/>
        </p:nvSpPr>
        <p:spPr>
          <a:xfrm>
            <a:off x="731520" y="180136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https://www.fisheries.noaa.gov/southeast/ecosystems/impacts-invasive-lionfish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13232" y="2231136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 — Padre Island N.S. ecology and management</a:t>
            </a:r>
            <a:endParaRPr lang="en-US" sz="1700" dirty="0"/>
          </a:p>
        </p:txBody>
      </p:sp>
      <p:sp>
        <p:nvSpPr>
          <p:cNvPr id="13" name="Text 11">
            <a:hlinkClick r:id="rId4"/>
          </p:cNvPr>
          <p:cNvSpPr/>
          <p:nvPr/>
        </p:nvSpPr>
        <p:spPr>
          <a:xfrm>
            <a:off x="731520" y="2523744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https://www.nps.gov/im/guln/pais.htm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953512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NPS — Padre Island fishing and invasive species</a:t>
            </a:r>
            <a:endParaRPr lang="en-US" sz="1700" dirty="0"/>
          </a:p>
        </p:txBody>
      </p:sp>
      <p:sp>
        <p:nvSpPr>
          <p:cNvPr id="15" name="Text 13">
            <a:hlinkClick r:id="rId5"/>
          </p:cNvPr>
          <p:cNvSpPr/>
          <p:nvPr/>
        </p:nvSpPr>
        <p:spPr>
          <a:xfrm>
            <a:off x="731520" y="3246120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https://www.nps.gov/pais/planyourvisit/fishing.htm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13232" y="3675888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Texas State Aquarium — conservation work</a:t>
            </a:r>
            <a:endParaRPr lang="en-US" sz="1700" dirty="0"/>
          </a:p>
        </p:txBody>
      </p:sp>
      <p:sp>
        <p:nvSpPr>
          <p:cNvPr id="17" name="Text 15">
            <a:hlinkClick r:id="rId6"/>
          </p:cNvPr>
          <p:cNvSpPr/>
          <p:nvPr/>
        </p:nvSpPr>
        <p:spPr>
          <a:xfrm>
            <a:off x="731520" y="3968496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https://www.texasstateaquarium.org/programs/conservation/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4398264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NOAA — Mission–Aransas Research Reserve</a:t>
            </a:r>
            <a:endParaRPr lang="en-US" sz="1700" dirty="0"/>
          </a:p>
        </p:txBody>
      </p:sp>
      <p:sp>
        <p:nvSpPr>
          <p:cNvPr id="19" name="Text 17">
            <a:hlinkClick r:id="rId7"/>
          </p:cNvPr>
          <p:cNvSpPr/>
          <p:nvPr/>
        </p:nvSpPr>
        <p:spPr>
          <a:xfrm>
            <a:off x="731520" y="4690872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https://www.coast.noaa.gov/nerrs/reserves/mission-aransas.html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5120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Coastal Bend Bays &amp; Estuaries Program</a:t>
            </a:r>
            <a:endParaRPr lang="en-US" sz="1700" dirty="0"/>
          </a:p>
        </p:txBody>
      </p:sp>
      <p:sp>
        <p:nvSpPr>
          <p:cNvPr id="21" name="Text 19">
            <a:hlinkClick r:id="rId8"/>
          </p:cNvPr>
          <p:cNvSpPr/>
          <p:nvPr/>
        </p:nvSpPr>
        <p:spPr>
          <a:xfrm>
            <a:off x="731520" y="5413248"/>
            <a:ext cx="10881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u="sng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https://www.cbbep.org/about-the-cbbep/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A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3C9D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0B4661">
              <a:alpha val="50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00" y="5120640"/>
            <a:ext cx="4572000" cy="3657600"/>
          </a:xfrm>
          <a:prstGeom prst="ellipse">
            <a:avLst/>
          </a:prstGeom>
          <a:solidFill>
            <a:srgbClr val="083C55">
              <a:alpha val="55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3774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13C9D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ISLANDERHACK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30352" y="594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| judge questions cheat sheet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344168"/>
            <a:ext cx="11109960" cy="0"/>
          </a:xfrm>
          <a:prstGeom prst="line">
            <a:avLst/>
          </a:prstGeom>
          <a:noFill/>
          <a:ln w="12700">
            <a:solidFill>
              <a:srgbClr val="2C56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6519672"/>
            <a:ext cx="8229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AQUAMIND  •  GULF COAST–INSPIRED SIMULATION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37392" y="650138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dirty="0">
                <a:solidFill>
                  <a:srgbClr val="87EF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31520" y="157276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USES IT? — A boat operator, fisheries team or conservation researcher; dashboard is prototype-level.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30428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DECISION? — Pursue a safe target or return based on battery, habitat and payload.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03580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RESOURCES? — Modeled Wh, travel and trips; real dollar/person-hour savings remain to measure.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76732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700">
                <a:solidFill>
                  <a:srgbClr val="B8D3DE"/>
                </a:solidFill>
                <a:latin typeface="Aptos"/>
                <a:ea typeface="Aptos" pitchFamily="34" charset="-122"/>
                <a:cs typeface="Aptos" pitchFamily="34" charset="-120"/>
              </a:rPr>
              <a:t>TEAM WORKLOAD? — Previously stated earlier.</a:t>
            </a:r>
            <a:endParaRPr lang="en-US" sz="1700">
              <a:latin typeface="Apto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449884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3FB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OUTSIDE SOUTH TEXAS? — Adapt navigation to other sites; revalidate species and permits.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5230368"/>
            <a:ext cx="10744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B8D3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TIME/BUDGET? — Real camera ML, sonar, hardware tests, expert review, and field evaluation.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48E8D5"/>
                </a:solidFill>
                <a:latin typeface="Aptos"/>
              </a:rPr>
              <a:t>ISLANDERHACK 2026   /   AQUAMIND   /   SCOOBY 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EBF7F9"/>
                </a:solidFill>
                <a:latin typeface="Aptos"/>
              </a:rPr>
              <a:t>Corpus Christi: why this matters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9AC0CA"/>
                </a:solidFill>
                <a:latin typeface="Aptos"/>
              </a:rPr>
              <a:t>A local inspiration and a potential education/research use case — not a claim of local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9AC0CA"/>
                </a:solidFill>
                <a:latin typeface="Aptos"/>
              </a:rPr>
              <a:t>GULF COAST–INSPIRED PROOF OF CONCEPT  •  NOT A FIELD-DEPLOYED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7899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PADRE ISLAND NATIONAL SEASHORE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Coastal habitat education and future monitoring research, only with appropriate permits.</a:t>
            </a:r>
          </a:p>
          <a:p>
            <a:pPr>
              <a:spcAft>
                <a:spcPts val="1000"/>
              </a:spcAft>
            </a:pPr>
            <a:endParaRPr sz="18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TEXAS STATE AQUARIUM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Potential outreach: demonstrate robotics, marine ecology, and responsible species identification.</a:t>
            </a:r>
          </a:p>
          <a:p>
            <a:pPr>
              <a:spcAft>
                <a:spcPts val="1000"/>
              </a:spcAft>
            </a:pPr>
            <a:endParaRPr sz="18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PORT OF CORPUS CHRISTI / COASTAL BEND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Illustrative future use: inspection support and environmental monitoring with authorized partners.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48E8D5"/>
                </a:solidFill>
                <a:latin typeface="Aptos"/>
              </a:rPr>
              <a:t>ISLANDERHACK 2026   /   AQUAMIND   /   SCOOBY 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EBF7F9"/>
                </a:solidFill>
                <a:latin typeface="Aptos"/>
              </a:rPr>
              <a:t>Inside the autonomy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9AC0CA"/>
                </a:solidFill>
                <a:latin typeface="Aptos"/>
              </a:rPr>
              <a:t>How the program decides where to go, what to target, and when to return.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9AC0CA"/>
                </a:solidFill>
                <a:latin typeface="Aptos"/>
              </a:rPr>
              <a:t>GULF COAST–INSPIRED PROOF OF CONCEPT  •  NOT A FIELD-DEPLOYED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8813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1  SEARCH COVERAGE   →  Snake-pattern waypoints sweep the simulated region.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2  DETECTION   →  Nearby simulated fish enter the sensor radius.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3  VERIFICATION   →  Species label + habitat exclusion + energy feasibility.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4  NAVIGATION   →  Grid-based A* finds a route around obstacles.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5  APPROACH   →  Velocity-based steering; slow down near a valid lionfish.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6  CAPTURE   →  At ≤3 m, animate the sphere and update the payload once.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BF7F9"/>
                </a:solidFill>
                <a:latin typeface="Aptos"/>
              </a:rPr>
              <a:t>7  RETURN   →  Battery reserve or 8-fish capacity triggers boat docking.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48E8D5"/>
                </a:solidFill>
                <a:latin typeface="Aptos"/>
              </a:rPr>
              <a:t>ISLANDERHACK 2026   /   AQUAMIND   /   SCOOBY 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EBF7F9"/>
                </a:solidFill>
                <a:latin typeface="Aptos"/>
              </a:rPr>
              <a:t>The robot: mechanics and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9AC0CA"/>
                </a:solidFill>
                <a:latin typeface="Aptos"/>
              </a:rPr>
              <a:t>A half-disc-inspired AUV model with a visible capture tunnel and eight-fish simulated payload.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9AC0CA"/>
                </a:solidFill>
                <a:latin typeface="Aptos"/>
              </a:rPr>
              <a:t>GULF COAST–INSPIRED PROOF OF CONCEPT  •  NOT A FIELD-DEPLOYED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881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PROPULSION  •  Twin ducted thrusters with animated counter-rotating rotors.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SENSING  •  Simulated forward camera, sonar pulses, depth and proximity telemetry.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SAFETY  •  Native fish and habitat exclusion checks before capture.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CAPTURE  •  Telescoping arm + spherical containment animation at close range.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BOAT HANDOFF  •  Returns to the vessel, unloads, recharges, then redeploys.</a:t>
            </a:r>
          </a:p>
          <a:p>
            <a:pPr>
              <a:spcAft>
                <a:spcPts val="1000"/>
              </a:spcAft>
            </a:pPr>
            <a:endParaRPr sz="19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All mechanics, capture effects and energy figures are illustrative — not hardware-tested.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16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256032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>
                <a:solidFill>
                  <a:srgbClr val="48E8D5"/>
                </a:solidFill>
                <a:latin typeface="Aptos"/>
              </a:rPr>
              <a:t>ISLANDERHACK 2026   /   AQUAMIND   /   SCOOBY DOERS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686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3200" b="1">
                <a:solidFill>
                  <a:srgbClr val="EBF7F9"/>
                </a:solidFill>
                <a:latin typeface="Aptos"/>
              </a:rPr>
              <a:t>24-hour build: what challenged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73352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9AC0CA"/>
                </a:solidFill>
                <a:latin typeface="Aptos"/>
              </a:rPr>
              <a:t>Judges want to know what actually happened — and what we would improve next.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37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9AC0CA"/>
                </a:solidFill>
                <a:latin typeface="Aptos"/>
              </a:rPr>
              <a:t>GULF COAST–INSPIRED PROOF OF CONCEPT  •  NOT A FIELD-DEPLOYED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42316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CHALLENGES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Getting propulsion animation, camera views, navigation and capture timing to work together; making VS Code/Python launch reproducible.</a:t>
            </a:r>
          </a:p>
          <a:p>
            <a:pPr>
              <a:spcAft>
                <a:spcPts val="1000"/>
              </a:spcAft>
            </a:pPr>
            <a:endParaRPr sz="19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OUR APPROACH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Prioritize a complete mission loop, then polish visuals and add controls, safety checks and documentation.</a:t>
            </a:r>
          </a:p>
          <a:p>
            <a:pPr>
              <a:spcAft>
                <a:spcPts val="1000"/>
              </a:spcAft>
            </a:pPr>
            <a:endParaRPr sz="1900" b="0">
              <a:solidFill>
                <a:srgbClr val="EBF7F9"/>
              </a:solidFill>
              <a:latin typeface="Aptos"/>
            </a:endParaRP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NEXT ITERATION</a:t>
            </a:r>
          </a:p>
          <a:p>
            <a:pPr>
              <a:spcAft>
                <a:spcPts val="1000"/>
              </a:spcAft>
            </a:pPr>
            <a:r>
              <a:rPr sz="1900" b="0">
                <a:solidFill>
                  <a:srgbClr val="EBF7F9"/>
                </a:solidFill>
                <a:latin typeface="Aptos"/>
              </a:rPr>
              <a:t>Collect labeled underwater images, evaluate real recognition accuracy, test a physical enclosure, and consult marine researchers on safety and permits.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21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AquaMind — IslanderHack Judge Presentation</dc:title>
  <dc:subject>Autonomous lionfish control simulation and technical demo</dc:subject>
  <dc:creator>AquaMind | IslanderHack</dc:creator>
  <cp:lastModifiedBy>AquaMind | IslanderHack</cp:lastModifiedBy>
  <cp:revision>19</cp:revision>
  <dcterms:created xsi:type="dcterms:W3CDTF">2026-10-10T13:34:02Z</dcterms:created>
  <dcterms:modified xsi:type="dcterms:W3CDTF">2026-10-10T15:59:36Z</dcterms:modified>
</cp:coreProperties>
</file>