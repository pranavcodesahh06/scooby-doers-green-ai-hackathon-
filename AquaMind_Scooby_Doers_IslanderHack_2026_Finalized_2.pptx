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1" dt="2026-10-10T15:59:19.221"/>
    <p1510:client id="{D70BB0FB-58EC-C2C4-1DCB-FAFD0AE4BAC9}" v="16" dt="2026-10-10T16:36:21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73707-9665-46EC-BB4B-3DD9199E577A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5D3BB-935E-4655-A764-7E6E1859B8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7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state that AquaMind is a working digital prototype, not a deployed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NOAA Fisheries documents impacts to reefs and native fish. Do not claim that lionfish are a recurring verified problem within Padre Island National Seashore or Corpus Christi Bay.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live robot path to fish, the 3-meter approach and visible capture spear, then a return to the support boat. Note transfer and recharge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AquaMind_V6.py. The implementation uses a headless Simulation class separate from Panda3D visual code, with deterministic seed 42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Planner.plan() performs 2D A* over 8 neighbors with Euclidean heuristic and weighted 3D goal height. This is grid-based navigation, not full 3D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current prototype cannot infer lionfish from actual pixels. The next step is building and evaluating a real labeled species-vision model and adding human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code uses estimated return energy = Euclidean distance x propulsion Wh/m x 1.7 + reserve 22 Wh. It does not show a validated savings percentage or actual hardware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spherical neutralization effect and blood particles are just animations. The robotic killing mechanism is not a proven physical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operator view is made for accessibility, but a future simple Start/Stop console and human review would be needed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careful: protected coastal and estuarine ecosystems do not automatically offer suitable lionfish habitat. These are proposed outreach/validation organizations, not partnerships or deployments. Padre is a National Park Service unit and would require permits and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direct real-world savings: they are a hypothesis. Suggest pilots evaluate Wh/capture, person-hours, costs and harm avoidance.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presenting, verify whether actual simulation shows successful capture and boat return. Never imply a recorded fallback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team-workload question, use only your actual division of responsibilities. Avoid making up who did what. For portability question, say the framework could be adapted to other species/regions after retraining and local ecological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grounded, compelling claim: we built a demonstrator of autonomous energy-aware invasive fish management, not a proven real-world removal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are public references for conservation setting. Algorithm claims were inspected in AquaMind_V6.py. Partner possibilities are suggestions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as backup for judge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bbep.org/about-the-cbbep/" TargetMode="External"/><Relationship Id="rId3" Type="http://schemas.openxmlformats.org/officeDocument/2006/relationships/hyperlink" Target="https://www.fisheries.noaa.gov/southeast/ecosystems/impacts-invasive-lionfish" TargetMode="External"/><Relationship Id="rId7" Type="http://schemas.openxmlformats.org/officeDocument/2006/relationships/hyperlink" Target="https://www.coast.noaa.gov/nerrs/reserves/mission-aransa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xasstateaquarium.org/programs/conservation/" TargetMode="External"/><Relationship Id="rId5" Type="http://schemas.openxmlformats.org/officeDocument/2006/relationships/hyperlink" Target="https://www.nps.gov/pais/planyourvisit/fishing.htm" TargetMode="External"/><Relationship Id="rId4" Type="http://schemas.openxmlformats.org/officeDocument/2006/relationships/hyperlink" Target="https://www.nps.gov/im/guln/pais.ht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828800"/>
            <a:ext cx="7315200" cy="9144000"/>
          </a:xfrm>
          <a:prstGeom prst="ellipse">
            <a:avLst/>
          </a:prstGeom>
          <a:solidFill>
            <a:srgbClr val="0C597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80160"/>
            <a:ext cx="3200400" cy="3200400"/>
          </a:xfrm>
          <a:prstGeom prst="ellipse">
            <a:avLst/>
          </a:prstGeom>
          <a:solidFill>
            <a:srgbClr val="1D9BB0">
              <a:alpha val="27000"/>
            </a:srgbClr>
          </a:solidFill>
          <a:ln w="25400">
            <a:solidFill>
              <a:srgbClr val="43BAC8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76656" y="1600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862072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invasive-species control.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wildlife. More efficient missions.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13232" y="4919472"/>
            <a:ext cx="7863840" cy="576072"/>
          </a:xfrm>
          <a:prstGeom prst="roundRect">
            <a:avLst>
              <a:gd name="adj" fmla="val 2539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840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ROBOTICS  /  ENERGY-AWARE NAVIGATION  /  CONSERVATION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6217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hackathon prototype • Not a field-tested device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Meet the Scooby Doers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One team. One 24-hour build. Different strengths working toward the same 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10698480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2100" b="0" dirty="0">
                <a:solidFill>
                  <a:srgbClr val="EBF7F9"/>
                </a:solidFill>
                <a:latin typeface="Aptos"/>
              </a:rPr>
              <a:t>PRANAV VIVEKANANDAN  —  Team Lead • AI </a:t>
            </a:r>
            <a:r>
              <a:rPr lang="en-US" sz="2100" dirty="0">
                <a:solidFill>
                  <a:srgbClr val="EBF7F9"/>
                </a:solidFill>
                <a:latin typeface="Aptos"/>
              </a:rPr>
              <a:t>Programmer </a:t>
            </a:r>
            <a:r>
              <a:rPr sz="2100" b="0">
                <a:solidFill>
                  <a:srgbClr val="EBF7F9"/>
                </a:solidFill>
                <a:latin typeface="Aptos"/>
              </a:rPr>
              <a:t>/ Computer Vision Concepts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 / AI Integration / Web Scraping</a:t>
            </a:r>
            <a:endParaRPr sz="21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JOSHUA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BOCKERSTETTE </a:t>
            </a:r>
            <a:r>
              <a:rPr sz="2100" b="0">
                <a:solidFill>
                  <a:srgbClr val="EBF7F9"/>
                </a:solidFill>
                <a:latin typeface="Aptos"/>
              </a:rPr>
              <a:t> —  Development • CAD / Robot Design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OLIVIA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DE LEON</a:t>
            </a:r>
            <a:r>
              <a:rPr sz="2100" b="0">
                <a:solidFill>
                  <a:srgbClr val="EBF7F9"/>
                </a:solidFill>
                <a:latin typeface="Aptos"/>
              </a:rPr>
              <a:t> —  Locomotion • Robot Movement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LEO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MIRELES</a:t>
            </a:r>
            <a:r>
              <a:rPr sz="2100" b="0">
                <a:solidFill>
                  <a:srgbClr val="EBF7F9"/>
                </a:solidFill>
                <a:latin typeface="Aptos"/>
              </a:rPr>
              <a:t> —  Coastal Research • Padre Island / National Seashore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| invasives threaten biodiversity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INVASIVE LIONFISH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6720" y="22707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2300" dirty="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An established conservation challenge across the western Atlantic, Caribbean, Gulf </a:t>
            </a:r>
            <a:r>
              <a:rPr lang="en-US" sz="230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of Mexico, and mainly Corpus Christi, Texas.</a:t>
            </a:r>
            <a:endParaRPr lang="en-US" sz="2300">
              <a:latin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530352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19072"/>
            <a:ext cx="54864" cy="123444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65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Ecology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2286000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Lionfish consume native reef fish and compete with local predators.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3090672"/>
            <a:ext cx="530352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090672"/>
            <a:ext cx="54864" cy="123444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2369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19088" y="3657600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marine ecosystems support commercial and recreational fishing.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17920" y="4471416"/>
            <a:ext cx="5303520" cy="1216152"/>
          </a:xfrm>
          <a:prstGeom prst="roundRect">
            <a:avLst>
              <a:gd name="adj" fmla="val 12030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471416"/>
            <a:ext cx="54864" cy="121615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4617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response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5038344"/>
            <a:ext cx="4892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removal usually requires trained human effort.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" y="57241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CARE: Gulf-wide relevance ≠ proof of a documented lionfish outbreak at Padre Island.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 | the robot + the crew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163677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AUTONOMOUS MISSION LOOP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33679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21715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E5264"/>
          </a:solidFill>
          <a:ln w="12700">
            <a:solidFill>
              <a:srgbClr val="0E526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7607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45643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33679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21715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E5264"/>
          </a:solidFill>
          <a:ln w="12700">
            <a:solidFill>
              <a:srgbClr val="0E526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7260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RECHARGE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31520" y="5285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limit: 8 simulated lionfish per trip  •  Return to surface support boat  •  Automatically redeploy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| what actually runs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645920"/>
            <a:ext cx="5358384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45920"/>
            <a:ext cx="54864" cy="185623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922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Panda3D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21284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3D environment, procedural models, lights, camera views and animated effects.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367528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645920"/>
            <a:ext cx="54864" cy="185623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79222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state machine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73368" y="2212848"/>
            <a:ext cx="4956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Deploying → searching → verifying → approaching → capturing → returning → docking → recharging.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" y="3703320"/>
            <a:ext cx="5358384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03320"/>
            <a:ext cx="54864" cy="185623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96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+ world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 (x, y, z), velocities, fish behavior, reef obstacles and native-fish exclusions.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367528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703320"/>
            <a:ext cx="54864" cy="1856232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84962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HUD / telemetrics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73368" y="4270248"/>
            <a:ext cx="4956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Depth, target range, payload 0–8, battery, modeled energy, mission events and cameras.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1 | A* navigation around reefs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6766560" cy="4160520"/>
          </a:xfrm>
          <a:prstGeom prst="roundRect">
            <a:avLst>
              <a:gd name="adj" fmla="val 3516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039112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g(n) + h(n)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42416" y="3026664"/>
            <a:ext cx="5943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 actual path cost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2416" y="3575304"/>
            <a:ext cx="5943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 straight-line distance to goal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8-direction, 4 m grid • no corner-cutting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35240" y="1664208"/>
            <a:ext cx="3913632" cy="1947672"/>
          </a:xfrm>
          <a:prstGeom prst="roundRect">
            <a:avLst>
              <a:gd name="adj" fmla="val 751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664208"/>
            <a:ext cx="54864" cy="194767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81051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Obstacle handling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36408" y="2231136"/>
            <a:ext cx="35021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cells near reefs are blocked, with added clearance.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35240" y="3813048"/>
            <a:ext cx="3913632" cy="2011680"/>
          </a:xfrm>
          <a:prstGeom prst="roundRect">
            <a:avLst>
              <a:gd name="adj" fmla="val 7273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3813048"/>
            <a:ext cx="54864" cy="20116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395935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re-planning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36408" y="4379976"/>
            <a:ext cx="35021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native fish create temporary avoidance zones; paths are recomputed.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2 | classify, verify, protect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664208"/>
            <a:ext cx="54864" cy="361188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4672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fish within the 33 m simulated sensor radius become candidates.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view displays the scene; it does not run a trained vision model.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1664208"/>
            <a:ext cx="54864" cy="3611880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FILTER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Fish carry simulated species labels.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wildlife is rejected. Unsafe proximity to wildlife/reefs blocks capture.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37576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1664208"/>
            <a:ext cx="54864" cy="36118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VERIFY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38744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active lionfish that pass clearance, capacity and energy checks can be targeted.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capture requires ≤ 3 m.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" y="5632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Rule-based simulated recognition — NOT measured ML accuracy.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3 | energy-aware target choice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CHASING A FISH, CHECK: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258568"/>
            <a:ext cx="1092708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51176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approach + capture + return + safety reserve  &lt;  battery available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76656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712464"/>
            <a:ext cx="54864" cy="171907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Propulsion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7824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from travel distance and speed.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34256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3712464"/>
            <a:ext cx="54864" cy="171907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35424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modeled sensor power over time.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82712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82712" y="3712464"/>
            <a:ext cx="54864" cy="171907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83880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energy charge per simulated capture.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0664" y="57058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Wh used / successful capture; compare strategies with identical initial conditions.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mechanism | visualized, not engineered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RANGE LOCK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fast; slow near the 3 m approach point.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50215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EXTEND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00" dirty="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Telescoping arm </a:t>
            </a:r>
            <a:r>
              <a:rPr lang="en-US" sz="190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drives the spear toward the target.</a:t>
            </a:r>
            <a:endParaRPr lang="en-US" sz="1900"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8251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828800"/>
            <a:ext cx="54864" cy="3529584"/>
          </a:xfrm>
          <a:prstGeom prst="rect">
            <a:avLst/>
          </a:prstGeom>
          <a:solidFill>
            <a:srgbClr val="E45D6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45D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NEUTRALIZE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effect indicates a simulated removal.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26287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RETRIEVE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6404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Retract; count the fish in an 8-slot payload.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85800" y="5751576"/>
            <a:ext cx="10789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interpretation: robot geometry approximates uploaded FreeCAD concept; no validated force, lethality or storage sizing.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fisher or researcher actually sees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5230368" cy="3547872"/>
          </a:xfrm>
          <a:prstGeom prst="roundRect">
            <a:avLst>
              <a:gd name="adj" fmla="val 412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773936"/>
            <a:ext cx="54864" cy="3547872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024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POV + instruments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340864"/>
            <a:ext cx="481888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 camera • depth meter • compass heading • altitude above seabed • speed • target lock • battery • capacity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cameras with keys 1–5; key 5 opens robot POV.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08192" y="1773936"/>
            <a:ext cx="5367528" cy="3547872"/>
          </a:xfrm>
          <a:prstGeom prst="roundRect">
            <a:avLst>
              <a:gd name="adj" fmla="val 412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773936"/>
            <a:ext cx="54864" cy="354787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202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decisions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2340864"/>
            <a:ext cx="49560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energy and payload.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if a target is excluded.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when the robot returns.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mission logs to review a simulated deployment.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6656" y="56418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usability: keyboard controls and on-screen telemetry; no production tablet or boat integration yet.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AquaMind fits the Coastal Bend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" y="162763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27632"/>
            <a:ext cx="54864" cy="133502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773936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Padre Island National Seashore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1945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permitting, monitoring and coastal-habitat education discussions — not a partner.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162763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627632"/>
            <a:ext cx="54864" cy="1335024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773936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Texas State Aquarium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82512" y="21945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conservation outreach, species education and validation advice — not a partner.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" y="320040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200400"/>
            <a:ext cx="54864" cy="1335024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346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Mission–Aransas NERR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" y="3767328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estuary monitoring and science-education use cases — not a partner.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81344" y="320040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200400"/>
            <a:ext cx="54864" cy="1335024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346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Coastal Bend Bays &amp; Estuaries Program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82512" y="3767328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environmental stewardship and community outreach collaboration — not a partner.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4864608"/>
            <a:ext cx="10835640" cy="804672"/>
          </a:xfrm>
          <a:prstGeom prst="roundRect">
            <a:avLst>
              <a:gd name="adj" fmla="val 18182"/>
            </a:avLst>
          </a:prstGeom>
          <a:solidFill>
            <a:srgbClr val="143B50"/>
          </a:solidFill>
          <a:ln w="12700">
            <a:solidFill>
              <a:srgbClr val="143B5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5120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must begin with species-presence surveys, approved sites, wildlife protections and permits.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Sustainable impact | how we would measure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691640"/>
            <a:ext cx="54864" cy="345643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tracked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Distance traveled (m)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Modeled energy (Wh)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 per trip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/ recharge cycles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9976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9976" y="1691640"/>
            <a:ext cx="54864" cy="345643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test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1144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shortest-target baseline and energy-aware controller using identical fish positions, obstacles and seeds.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19872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691640"/>
            <a:ext cx="54864" cy="345643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value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wasted searching, better boat planning, reduced hands-on hours and a scalable research workflow.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55869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dollar savings, power savings or fishing-income improvements have been experimentally established.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 | show the judges the actual build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" y="1709928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0:00–0:25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34056" y="1801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+ local relevance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" y="2514600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0:25–1:10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34056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program: fish, reefs, robot and boat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" y="3319272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1:10–1:55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34056" y="3410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 5: POV, depth, scanning + classifier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4944" y="4123944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2336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1:55–2:35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34056" y="42153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approach, capture and payload count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4944" y="4928616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50383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2:35–3:00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34056" y="50200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+ energy rule; return/recharge cycle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" y="593445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if the live app fails: use screenshots or a recorded local walkthrough, clearly labeled.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Q&amp;A | credibility wins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" y="1645920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45920"/>
            <a:ext cx="54864" cy="1938528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792224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AI?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search, A*, constraint-based target filtering and energy-aware planning; not a trained visual AI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8776" y="1645920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645920"/>
            <a:ext cx="54864" cy="1938528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792224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better than existing removal?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2212848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explores repeatable, assisted scouting; superiority and savings require field validation.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" y="3803904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803904"/>
            <a:ext cx="54864" cy="1938528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95020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Hardest non-coding challenge?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" y="4370832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Coordinating plausible robot mechanics, ecological safety and a working demo in 24 hours.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803904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3803904"/>
            <a:ext cx="54864" cy="1938528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95020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next?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9944" y="4370832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species-image dataset, camera evaluation, prototype enclosure, field permits, safe-handling tests.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 | a responsible path to deployment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709928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SIMULATION TO RESEARCH PILOT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54864" cy="224028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Validate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968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local lionfish occurrence and relevant habitat with experts.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7408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377440"/>
            <a:ext cx="54864" cy="22402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Engineer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8576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capture mechanics, native-fish safeguards and real sensors.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9016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2377440"/>
            <a:ext cx="54864" cy="2240280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Test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30184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real energy, identification accuracy, safety and cost.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522122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makes conservation robotics easier to explore — with safety and evidence built into the next steps.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useful references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508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NOAA Fisheries — Impacts of Invasive Lionfish</a:t>
            </a:r>
            <a:endParaRPr lang="en-US" sz="17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18013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https://www.fisheries.noaa.gov/southeast/ecosystems/impacts-invasive-lionfish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31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— Padre Island N.S. ecology and management</a:t>
            </a:r>
            <a:endParaRPr lang="en-US" sz="1700" dirty="0"/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731520" y="25237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https://www.nps.gov/im/guln/pais.htm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9535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— Padre Island fishing and invasive species</a:t>
            </a:r>
            <a:endParaRPr lang="en-US" sz="1700" dirty="0"/>
          </a:p>
        </p:txBody>
      </p:sp>
      <p:sp>
        <p:nvSpPr>
          <p:cNvPr id="15" name="Text 13">
            <a:hlinkClick r:id="rId5"/>
          </p:cNvPr>
          <p:cNvSpPr/>
          <p:nvPr/>
        </p:nvSpPr>
        <p:spPr>
          <a:xfrm>
            <a:off x="731520" y="32461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https://www.nps.gov/pais/planyourvisit/fishing.htm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6758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Texas State Aquarium — conservation work</a:t>
            </a:r>
            <a:endParaRPr lang="en-US" sz="1700" dirty="0"/>
          </a:p>
        </p:txBody>
      </p:sp>
      <p:sp>
        <p:nvSpPr>
          <p:cNvPr id="17" name="Text 15">
            <a:hlinkClick r:id="rId6"/>
          </p:cNvPr>
          <p:cNvSpPr/>
          <p:nvPr/>
        </p:nvSpPr>
        <p:spPr>
          <a:xfrm>
            <a:off x="731520" y="39684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https://www.texasstateaquarium.org/programs/conservation/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3982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NOAA — Mission–Aransas Research Reserve</a:t>
            </a:r>
            <a:endParaRPr lang="en-US" sz="1700" dirty="0"/>
          </a:p>
        </p:txBody>
      </p:sp>
      <p:sp>
        <p:nvSpPr>
          <p:cNvPr id="19" name="Text 17">
            <a:hlinkClick r:id="rId7"/>
          </p:cNvPr>
          <p:cNvSpPr/>
          <p:nvPr/>
        </p:nvSpPr>
        <p:spPr>
          <a:xfrm>
            <a:off x="731520" y="46908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https://www.coast.noaa.gov/nerrs/reserves/mission-aransas.html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5120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Coastal Bend Bays &amp; Estuaries Program</a:t>
            </a:r>
            <a:endParaRPr lang="en-US" sz="1700" dirty="0"/>
          </a:p>
        </p:txBody>
      </p:sp>
      <p:sp>
        <p:nvSpPr>
          <p:cNvPr id="21" name="Text 19">
            <a:hlinkClick r:id="rId8"/>
          </p:cNvPr>
          <p:cNvSpPr/>
          <p:nvPr/>
        </p:nvSpPr>
        <p:spPr>
          <a:xfrm>
            <a:off x="731520" y="54132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https://www.cbbep.org/about-the-cbbep/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| judge questions cheat sheet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USES IT? — A boat operator, fisheries team or conservation researcher; dashboard is prototype-level.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DECISION? — Pursue a safe target or return based on battery, habitat and payload.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03580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RESOURCES? — Modeled Wh, travel and trips; real dollar/person-hour savings remain to measure.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76732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>
                <a:solidFill>
                  <a:srgbClr val="B8D3DE"/>
                </a:solidFill>
                <a:latin typeface="Aptos"/>
                <a:ea typeface="Aptos" pitchFamily="34" charset="-122"/>
                <a:cs typeface="Aptos" pitchFamily="34" charset="-120"/>
              </a:rPr>
              <a:t>TEAM WORKLOAD? — Previously stated earlier.</a:t>
            </a:r>
            <a:endParaRPr lang="en-US" sz="1700"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SOUTH TEXAS? — Adapt navigation to other sites; revalidate species and permits.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2303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TIME/BUDGET? — Real camera ML, sonar, hardware tests, expert review, and field evaluation.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Corpus Christi: why this matters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A local inspiration and a potential education/research use case — not a claim of local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PADRE ISLAND NATIONAL SEASHORE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Coastal habitat education and future monitoring research, only with appropriate permits.</a:t>
            </a:r>
          </a:p>
          <a:p>
            <a:pPr>
              <a:spcAft>
                <a:spcPts val="1000"/>
              </a:spcAft>
            </a:pPr>
            <a:endParaRPr sz="18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TEXAS STATE AQUARIUM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Potential outreach: demonstrate robotics, marine ecology, and responsible species identification.</a:t>
            </a:r>
          </a:p>
          <a:p>
            <a:pPr>
              <a:spcAft>
                <a:spcPts val="1000"/>
              </a:spcAft>
            </a:pPr>
            <a:endParaRPr sz="18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PORT OF CORPUS CHRISTI / COASTAL BEND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Illustrative future use: inspection support and environmental monitoring with authorized partners.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Inside the autonomy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How the program decides where to go, what to target, and when to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1  SEARCH COVERAGE   →  Snake-pattern waypoints sweep the simulated region.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2  DETECTION   →  Nearby simulated fish enter the sensor radius.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3  VERIFICATION   →  Species label + habitat exclusion + energy feasibility.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4  NAVIGATION   →  Grid-based A* finds a route around obstacles.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5  APPROACH   →  Velocity-based steering; slow down near a valid lionfish.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6  CAPTURE   →  At ≤3 m, animate the spear and update the payload once.</a:t>
            </a:r>
          </a:p>
          <a:p>
            <a:pPr>
              <a:spcAft>
                <a:spcPts val="1000"/>
              </a:spcAft>
            </a:pPr>
            <a:r>
              <a:rPr lang="en-US" sz="1800" b="0">
                <a:solidFill>
                  <a:srgbClr val="EBF7F9"/>
                </a:solidFill>
                <a:latin typeface="Aptos"/>
              </a:rPr>
              <a:t>7  RETURN   →  Battery reserve or 8-fish capacity triggers boat docking.</a:t>
            </a:r>
            <a:endParaRPr sz="1800" b="0">
              <a:solidFill>
                <a:srgbClr val="EBF7F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The robot: mechanics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A half-disc-inspired AUV model with a visible capture tunnel and eight-fish simulated payload.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881360" cy="29084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PROPULSION  •  Twin ducted thrusters with animated counter-rotating rotors.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SENSING  •  Simulated forward camera, sonar pulses, depth and proximity telemetry.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SAFETY  •  Native fish and habitat exclusion checks before capture.</a:t>
            </a: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EBF7F9"/>
                </a:solidFill>
                <a:latin typeface="Aptos"/>
              </a:rPr>
              <a:t>CAPTURE  •  Telescoping arm + </a:t>
            </a:r>
            <a:r>
              <a:rPr lang="en-US" sz="1900">
                <a:solidFill>
                  <a:srgbClr val="EBF7F9"/>
                </a:solidFill>
                <a:latin typeface="Aptos"/>
              </a:rPr>
              <a:t>spear + containment</a:t>
            </a:r>
            <a:r>
              <a:rPr sz="1900" b="0" dirty="0">
                <a:solidFill>
                  <a:srgbClr val="EBF7F9"/>
                </a:solidFill>
                <a:latin typeface="Aptos"/>
              </a:rPr>
              <a:t> animation at close range.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BOAT HANDOFF  •  Returns to the vessel, unloads, recharges, then redeploys.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All mechanics, capture effects and energy figures are illustrative — not hardware-tested.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24-hour build: what challenged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Judges want to know what actually happened — and what we would improve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78660"/>
            <a:ext cx="10817861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CHALLENGES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Getting propulsion animation, camera views, navigation and capture timing to work together; making VS Code/Python launch reproducible.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OUR APPROACH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Prioritize a complete mission loop, then polish visuals and add controls, safety checks and documentation.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NEXT ITERATION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Collect labeled underwater images, evaluate real recognition accuracy, test a physical enclosure, and consult marine researchers on safety and permits.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AquaMind — IslanderHack Judge Presentation</dc:title>
  <dc:subject>Autonomous lionfish control simulation and technical demo</dc:subject>
  <dc:creator>AquaMind | IslanderHack</dc:creator>
  <cp:lastModifiedBy>AquaMind | IslanderHack</cp:lastModifiedBy>
  <cp:revision>26</cp:revision>
  <dcterms:created xsi:type="dcterms:W3CDTF">2026-10-10T13:34:02Z</dcterms:created>
  <dcterms:modified xsi:type="dcterms:W3CDTF">2026-10-10T16:37:13Z</dcterms:modified>
</cp:coreProperties>
</file>